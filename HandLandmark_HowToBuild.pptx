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6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649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วิธีสร้าง Hand Landmark Model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2763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from Scratch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ขั้นตอนการสร้าง Model ตรวจจับ 21 จุดบนมือตั้งแต่เริ่มต้น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1627632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" y="294436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9443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2880360"/>
            <a:ext cx="1627632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67712" y="2944368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67712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9443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77640" y="2880360"/>
            <a:ext cx="1627632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50792" y="2944368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50792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29443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2880360"/>
            <a:ext cx="1627632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33872" y="294436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33872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9443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43800" y="2880360"/>
            <a:ext cx="1627632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16952" y="294436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16952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01000" y="29443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&amp; Export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อ้างอิง: Zhang et al. (2020) — MediaPipe Hands: On-device Real-time Hand Tracking | arXiv:2006.10214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ขั้นตอนที่ 1 — เก็บ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4206240" cy="3611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54864" cy="3611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สิ่งที่ต้องมีใน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4128" y="1691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จำนวนภาพ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19476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อย่างน้อย 10,000-30,000 ภาพ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 ใช้ ~30K ภาพจริง + Synthetic)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🤚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2404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ความหลากหลาย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6609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หลายคน • หลายมุมกล้อง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หลายแสง • หลายพื้นหลัง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4128" y="3118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33741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มือขนาดใหญ่-เล็ก ระยะใกล้-ไกล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มือซ้ายและขวา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38313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4087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Hand Model render ทับ Background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ช่วยเพิ่มความหลากหลายโดยไม่ต้องถ่ายเพิ่ม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097280"/>
            <a:ext cx="3977640" cy="3611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1097280"/>
            <a:ext cx="54864" cy="3611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12344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ความหลากหลายที่ Dataset ต้องครอบคลุม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มุมกล้อง (Viewpoint)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83480" y="1993392"/>
            <a:ext cx="356616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83480" y="1993392"/>
            <a:ext cx="338785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0" y="19751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267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ระดับแสง (Lighting)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83480" y="2542032"/>
            <a:ext cx="356616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83480" y="2542032"/>
            <a:ext cx="3138221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9600" y="25237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2816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ผิวหนัง (Skin Tone)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83480" y="3090672"/>
            <a:ext cx="356616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983480" y="3090672"/>
            <a:ext cx="267462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0" y="30723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3364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ขนาดมือ (Scale)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983480" y="3639312"/>
            <a:ext cx="356616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983480" y="3639312"/>
            <a:ext cx="2924251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29600" y="36210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39136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ท่าทาง (Pose)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83480" y="4187952"/>
            <a:ext cx="356616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983480" y="4187952"/>
            <a:ext cx="320954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29600" y="41696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ขั้นตอนที่ 2 — Annotation (Label ข้อมูล)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 label 21 จุดบนมือทุกภาพ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2286000"/>
            <a:ext cx="1645920" cy="2011680"/>
          </a:xfrm>
          <a:prstGeom prst="ellipse">
            <a:avLst/>
          </a:prstGeom>
          <a:solidFill>
            <a:srgbClr val="1A253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2024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78608" y="4206240"/>
            <a:ext cx="201168" cy="20116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78608" y="4206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91640" y="32918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91640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417320" y="27432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17320" y="2743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234440" y="22402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2240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3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51560" y="17830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4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011680" y="233172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11680" y="2331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5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74520" y="178308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74520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6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783080" y="132588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783080" y="1325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7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691640" y="93268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91640" y="932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8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578608" y="2212848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78608" y="2212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9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542032" y="1664208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42032" y="1664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10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514600" y="1207008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14600" y="1207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11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487168" y="804672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87168" y="804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12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154680" y="233172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54680" y="2331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13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218688" y="181051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18688" y="1810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14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73552" y="135331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73552" y="1353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15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310128" y="96012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10128" y="960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16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703320" y="251460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70332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17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822192" y="208483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22192" y="2084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18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913632" y="171907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913632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19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005072" y="138988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005072" y="1389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20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800600" y="1078992"/>
            <a:ext cx="39776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800600" y="1078992"/>
            <a:ext cx="54864" cy="3657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83480" y="120700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ข้อมูลที่ต้อง Label ต่อ 1 ภาพ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983480" y="1719072"/>
            <a:ext cx="3657600" cy="365760"/>
          </a:xfrm>
          <a:prstGeom prst="rect">
            <a:avLst/>
          </a:prstGeom>
          <a:solidFill>
            <a:srgbClr val="1A284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74920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จุดที่ต้อง label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903720" y="17739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จุดต่อ 1 มือ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983480" y="2148840"/>
            <a:ext cx="36576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74920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ค่าต่อจุด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903720" y="2203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z (3 ค่า)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983480" y="2578608"/>
            <a:ext cx="3657600" cy="365760"/>
          </a:xfrm>
          <a:prstGeom prst="rect">
            <a:avLst/>
          </a:prstGeom>
          <a:solidFill>
            <a:srgbClr val="1A284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07492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ค่าต่อภาพ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90372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× 3 = 63 ค่า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983480" y="3008376"/>
            <a:ext cx="36576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07492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พิกัด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903720" y="3063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0.0 – 1.0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983480" y="3438144"/>
            <a:ext cx="3657600" cy="365760"/>
          </a:xfrm>
          <a:prstGeom prst="rect">
            <a:avLst/>
          </a:prstGeom>
          <a:solidFill>
            <a:srgbClr val="1A284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074920" y="3493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เครื่องมือ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903720" y="3493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Labelme / CVAT / custom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983480" y="3867912"/>
            <a:ext cx="36576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074920" y="3922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เวลาต่อภาพ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903720" y="3922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~3-10 นาที (manual)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983480" y="4297680"/>
            <a:ext cx="3657600" cy="365760"/>
          </a:xfrm>
          <a:prstGeom prst="rect">
            <a:avLst/>
          </a:prstGeom>
          <a:solidFill>
            <a:srgbClr val="1A284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074920" y="4352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ทางเลือก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903720" y="4352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Semi-auto ด้วย existing model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411480" y="4617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Google ใช้ Synthetic 3D Hand Model เพื่อลดภาระการ label ด้วยมือ ช่วยเพิ่มความหลากหลายและลด Bias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ขั้นตอนที่ 3 — Model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 Neural Network สำหรับ Hand Landmark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1572768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15727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18872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8288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Cropped palm region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56816" y="15544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21408" y="1078992"/>
            <a:ext cx="1572768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21408" y="1078992"/>
            <a:ext cx="1572768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21408" y="118872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21408" y="18288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94176" y="15544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58768" y="1078992"/>
            <a:ext cx="1572768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58768" y="1078992"/>
            <a:ext cx="1572768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58768" y="118872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58768" y="18288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context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31536" y="15544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96128" y="1078992"/>
            <a:ext cx="1572768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96128" y="1078992"/>
            <a:ext cx="15727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96128" y="118872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96128" y="18288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× (x,y,z)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68896" y="15544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33488" y="1078992"/>
            <a:ext cx="1572768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33488" y="1078992"/>
            <a:ext cx="1572768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33488" y="118872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values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33488" y="18288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coords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2633472"/>
            <a:ext cx="4224528" cy="20848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2633472"/>
            <a:ext cx="54864" cy="20848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2761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BlazePalm Detector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" y="3182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ตรวจหาฝ่ามือจากภาพทั้งหมด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4360" y="3483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ใช้ Single-Shot Detector (SSD-like)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" y="3785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Output = Bounding Box + Orientation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4360" y="4087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ความแม่นยำ 95.7% average precision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94360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รันเฉพาะ Frame แรกหรือเมื่อ Track หาย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73168" y="2633472"/>
            <a:ext cx="4005072" cy="20848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73168" y="2633472"/>
            <a:ext cx="54864" cy="20848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56048" y="276148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Hand Landmark Model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56048" y="31821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รับ cropped palm image จาก Stage 1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956048" y="34838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CNN Regression → 21 × 3 = 63 ค่า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56048" y="378561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ใช้ 2.5D Heatmap intermediate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56048" y="408736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แม่นยำระดับ sub-pixel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956048" y="43891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รันทุก Frame (เร็วกว่า detector)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ขั้นตอนที่ 4 — Training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การฝึก Model ด้วย Dataset ที่เตรียมไว้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54864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5361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 Loss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(ดีกว่า MSE สำหรับ Landmark)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1078992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10128" y="1078992"/>
            <a:ext cx="54864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15361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0.001 → decay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8776" y="1078992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08776" y="1078992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73368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73368" y="15361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– 64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(ขึ้นกับ GPU VRAM)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450592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450592"/>
            <a:ext cx="54864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" y="29077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200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(เฝ้าดู val loss)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10128" y="2450592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10128" y="2450592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29077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80%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10% / Test 10%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08776" y="2450592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08776" y="2450592"/>
            <a:ext cx="54864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73368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73368" y="29077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Rotate, Brightness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Crop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3858768"/>
            <a:ext cx="8366760" cy="8961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3858768"/>
            <a:ext cx="54864" cy="89611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3913632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" y="4187952"/>
            <a:ext cx="1234440" cy="438912"/>
          </a:xfrm>
          <a:prstGeom prst="rect">
            <a:avLst/>
          </a:prstGeom>
          <a:solidFill>
            <a:srgbClr val="1A2535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418795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Batch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28800" y="4279392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CD34D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984248" y="4187952"/>
            <a:ext cx="1234440" cy="438912"/>
          </a:xfrm>
          <a:prstGeom prst="rect">
            <a:avLst/>
          </a:prstGeom>
          <a:solidFill>
            <a:srgbClr val="1A2535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984248" y="418795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18688" y="4279392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CD34D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74136" y="4187952"/>
            <a:ext cx="1234440" cy="438912"/>
          </a:xfrm>
          <a:prstGeom prst="rect">
            <a:avLst/>
          </a:prstGeom>
          <a:solidFill>
            <a:srgbClr val="1A2535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74136" y="418795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(Wing Loss)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08576" y="4279392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CD34D"/>
                </a:solidFill>
              </a:rPr>
              <a:t>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64024" y="4187952"/>
            <a:ext cx="1234440" cy="438912"/>
          </a:xfrm>
          <a:prstGeom prst="rect">
            <a:avLst/>
          </a:prstGeom>
          <a:solidFill>
            <a:srgbClr val="1A2535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64024" y="418795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(Gradient)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98464" y="4279392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CD34D"/>
                </a:solidFill>
              </a:rPr>
              <a:t>→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53912" y="4187952"/>
            <a:ext cx="1234440" cy="438912"/>
          </a:xfrm>
          <a:prstGeom prst="rect">
            <a:avLst/>
          </a:prstGeom>
          <a:solidFill>
            <a:srgbClr val="1A2535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53912" y="418795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(Adam)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88352" y="4279392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CD34D"/>
                </a:solidFill>
              </a:rPr>
              <a:t>→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543800" y="4187952"/>
            <a:ext cx="1234440" cy="438912"/>
          </a:xfrm>
          <a:prstGeom prst="rect">
            <a:avLst/>
          </a:prstGeom>
          <a:solidFill>
            <a:srgbClr val="1A2535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543800" y="418795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Epoch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ขั้นตอนที่ 5 — Validate &amp; Optimize &amp; Export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 ปรับแต่ง และ Export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4224528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54864" cy="2331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ที่ใช้วัดความแม่นยำ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PCK (% Correct Keypoints)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8653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จุดที่อยู่ในระยะ threshold ถือว่าถูก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682496"/>
            <a:ext cx="109728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6824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0848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MPJPE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Per-Joint Position Error (mm)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2103120"/>
            <a:ext cx="109728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2103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5054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NME (Normalized Mean Error)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27066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หารด้วยขนาดมือ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2523744"/>
            <a:ext cx="109728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280" y="25237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(Inference Speed)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31272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เฟรมต่อวินาที (Real-time ≥ 30)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2944368"/>
            <a:ext cx="109728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83280" y="2944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 FPS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1078992"/>
            <a:ext cx="397764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1078992"/>
            <a:ext cx="54864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120700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83480" y="1719072"/>
            <a:ext cx="3657600" cy="384048"/>
          </a:xfrm>
          <a:prstGeom prst="rect">
            <a:avLst/>
          </a:prstGeom>
          <a:solidFill>
            <a:srgbClr val="1A253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983480" y="1719072"/>
            <a:ext cx="45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20640" y="1773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TFLite (.tflite)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78040" y="1773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มือถือ Android/iOS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83480" y="2176272"/>
            <a:ext cx="3657600" cy="384048"/>
          </a:xfrm>
          <a:prstGeom prst="rect">
            <a:avLst/>
          </a:prstGeom>
          <a:solidFill>
            <a:srgbClr val="1A253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83480" y="2176272"/>
            <a:ext cx="4572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20640" y="2231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ONNX (.onnx)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78040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ทั่วไป Cross-platform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83480" y="2633472"/>
            <a:ext cx="3657600" cy="384048"/>
          </a:xfrm>
          <a:prstGeom prst="rect">
            <a:avLst/>
          </a:prstGeom>
          <a:solidFill>
            <a:srgbClr val="1A253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83480" y="2633472"/>
            <a:ext cx="4572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20640" y="26883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TensorRT (.engine)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78040" y="2688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Nano (เร็วมาก)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83480" y="3090672"/>
            <a:ext cx="3657600" cy="384048"/>
          </a:xfrm>
          <a:prstGeom prst="rect">
            <a:avLst/>
          </a:prstGeom>
          <a:solidFill>
            <a:srgbClr val="1A253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83480" y="3090672"/>
            <a:ext cx="457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20640" y="3145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CoreML (.mlmodel)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178040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/ Mac (Apple)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11480" y="3520440"/>
            <a:ext cx="83667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11480" y="3520440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4360" y="3639312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เทคนิค Optimization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94360" y="4005072"/>
            <a:ext cx="1920240" cy="658368"/>
          </a:xfrm>
          <a:prstGeom prst="rect">
            <a:avLst/>
          </a:prstGeom>
          <a:solidFill>
            <a:srgbClr val="1A25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67512" y="402336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490472" y="4023360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 Precision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→ 8-bit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เร็วขึ้น 2-4x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679192" y="4005072"/>
            <a:ext cx="1920240" cy="658368"/>
          </a:xfrm>
          <a:prstGeom prst="rect">
            <a:avLst/>
          </a:prstGeom>
          <a:solidFill>
            <a:srgbClr val="1A25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752344" y="402336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575304" y="4023360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ตัด Weight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ที่ไม่สำคัญออก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เล็กลง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64024" y="4005072"/>
            <a:ext cx="1920240" cy="658368"/>
          </a:xfrm>
          <a:prstGeom prst="rect">
            <a:avLst/>
          </a:prstGeom>
          <a:solidFill>
            <a:srgbClr val="1A25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37176" y="402336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660136" y="4023360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ถ่ายความรู้จาก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ใหญ่ไป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เล็ก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48856" y="4005072"/>
            <a:ext cx="1920240" cy="658368"/>
          </a:xfrm>
          <a:prstGeom prst="rect">
            <a:avLst/>
          </a:prstGeom>
          <a:solidFill>
            <a:srgbClr val="1A25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922008" y="402336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744968" y="4023360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 Layer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 GPU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Jetson เร็วมาก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 — ทำเอง vs ใช้ MediaPipe สำเร็จรูป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ข้อดีข้อเสียของแต่ละแนวทาง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365760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ด้าน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87368" y="1078992"/>
            <a:ext cx="2267712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87368" y="107899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ทำเอง (DIY)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73368" y="1078992"/>
            <a:ext cx="24048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73368" y="107899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MediaPipe (สำเร็จรูป)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836676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5361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เวลาที่ใช้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87368" y="153619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เดือน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73368" y="153619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วัน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32520" y="1554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1938528"/>
            <a:ext cx="8366760" cy="420624"/>
          </a:xfrm>
          <a:prstGeom prst="rect">
            <a:avLst/>
          </a:prstGeom>
          <a:solidFill>
            <a:srgbClr val="17203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19933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ที่ต้องการ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87368" y="199339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30,000+ ภาพ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3368" y="199339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ไม่ต้องการ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32520" y="2011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2395728"/>
            <a:ext cx="836676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4505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ความยืดหยุ่น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87368" y="245059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 Class เองได้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73368" y="245059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ใช้ได้แค่ 21 จุดมาตรฐาน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31920" y="24688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D34D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2852928"/>
            <a:ext cx="8366760" cy="420624"/>
          </a:xfrm>
          <a:prstGeom prst="rect">
            <a:avLst/>
          </a:prstGeom>
          <a:solidFill>
            <a:srgbClr val="17203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2907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ความแม่นยำ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87368" y="290779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ขึ้นกับ Dataset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73368" y="290779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95.7% (tested by Google)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732520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" y="3310128"/>
            <a:ext cx="836676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ขนาด Model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87368" y="336499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ปรับได้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73368" y="336499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MB (fixed)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931920" y="3383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D34D"/>
                </a:solidFill>
              </a:rPr>
              <a:t>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11480" y="3767328"/>
            <a:ext cx="8366760" cy="420624"/>
          </a:xfrm>
          <a:prstGeom prst="rect">
            <a:avLst/>
          </a:prstGeom>
          <a:solidFill>
            <a:srgbClr val="17203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38221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รันบน Mobile/Edge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87368" y="382219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 Optimize เอง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73368" y="382219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รองรับทุก Platform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732520" y="3840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11480" y="4224528"/>
            <a:ext cx="836676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42793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เรียนรู้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087368" y="427939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ได้เรียนรู้ลึก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73368" y="427939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ได้เรียน Integration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93192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</a:rPr>
              <a:t>✓✓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1480" y="4681728"/>
            <a:ext cx="8366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สรุป: ในโปรเจคนี้ใช้ MediaPipe เป็นหลัก และทดลองเทรน YOLO11 เองด้วย Roboflow + Google Colab จึงเข้าใจทั้งสองแนวทาง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814</Words>
  <Application>Microsoft Office PowerPoint</Application>
  <PresentationFormat>On-screen Show (16:9)</PresentationFormat>
  <Paragraphs>242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 Landmark Model — How to Build</dc:title>
  <dc:subject>PptxGenJS Presentation</dc:subject>
  <dc:creator>PptxGenJS</dc:creator>
  <cp:lastModifiedBy>B6614522 อินทัช หวังพิทักษ์วงศ์</cp:lastModifiedBy>
  <cp:revision>2</cp:revision>
  <dcterms:created xsi:type="dcterms:W3CDTF">2026-05-28T14:06:11Z</dcterms:created>
  <dcterms:modified xsi:type="dcterms:W3CDTF">2026-05-28T15:48:10Z</dcterms:modified>
</cp:coreProperties>
</file>